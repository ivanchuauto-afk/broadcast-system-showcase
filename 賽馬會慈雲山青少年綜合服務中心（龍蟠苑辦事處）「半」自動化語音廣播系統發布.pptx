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19379-4EB9-4022-8909-DB8FCCCABAB8}" v="9" dt="2026-06-05T04:54:49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ie Takoi" userId="ba64fe7020973f7a" providerId="LiveId" clId="{FCC02F31-42AE-42F6-81CF-165AC447B74F}"/>
    <pc:docChg chg="undo custSel addSld modSld sldOrd">
      <pc:chgData name="connie Takoi" userId="ba64fe7020973f7a" providerId="LiveId" clId="{FCC02F31-42AE-42F6-81CF-165AC447B74F}" dt="2026-06-05T04:54:49.117" v="202"/>
      <pc:docMkLst>
        <pc:docMk/>
      </pc:docMkLst>
      <pc:sldChg chg="modSp mod">
        <pc:chgData name="connie Takoi" userId="ba64fe7020973f7a" providerId="LiveId" clId="{FCC02F31-42AE-42F6-81CF-165AC447B74F}" dt="2026-06-05T04:50:25.868" v="119" actId="14100"/>
        <pc:sldMkLst>
          <pc:docMk/>
          <pc:sldMk cId="3561733288" sldId="256"/>
        </pc:sldMkLst>
        <pc:spChg chg="mod">
          <ac:chgData name="connie Takoi" userId="ba64fe7020973f7a" providerId="LiveId" clId="{FCC02F31-42AE-42F6-81CF-165AC447B74F}" dt="2026-06-05T04:50:25.868" v="119" actId="14100"/>
          <ac:spMkLst>
            <pc:docMk/>
            <pc:sldMk cId="3561733288" sldId="256"/>
            <ac:spMk id="2" creationId="{AAF87959-9919-0C99-18EF-2FF9E2E14220}"/>
          </ac:spMkLst>
        </pc:spChg>
      </pc:sldChg>
      <pc:sldChg chg="modSp">
        <pc:chgData name="connie Takoi" userId="ba64fe7020973f7a" providerId="LiveId" clId="{FCC02F31-42AE-42F6-81CF-165AC447B74F}" dt="2026-06-05T04:54:49.117" v="202"/>
        <pc:sldMkLst>
          <pc:docMk/>
          <pc:sldMk cId="2133546527" sldId="257"/>
        </pc:sldMkLst>
        <pc:spChg chg="mod">
          <ac:chgData name="connie Takoi" userId="ba64fe7020973f7a" providerId="LiveId" clId="{FCC02F31-42AE-42F6-81CF-165AC447B74F}" dt="2026-06-05T04:54:49.117" v="202"/>
          <ac:spMkLst>
            <pc:docMk/>
            <pc:sldMk cId="2133546527" sldId="257"/>
            <ac:spMk id="3" creationId="{1399BFE3-79FD-E956-EC51-1AE05341BDB9}"/>
          </ac:spMkLst>
        </pc:spChg>
      </pc:sldChg>
      <pc:sldChg chg="modSp">
        <pc:chgData name="connie Takoi" userId="ba64fe7020973f7a" providerId="LiveId" clId="{FCC02F31-42AE-42F6-81CF-165AC447B74F}" dt="2026-06-05T04:54:49.117" v="202"/>
        <pc:sldMkLst>
          <pc:docMk/>
          <pc:sldMk cId="4170711767" sldId="258"/>
        </pc:sldMkLst>
        <pc:spChg chg="mod">
          <ac:chgData name="connie Takoi" userId="ba64fe7020973f7a" providerId="LiveId" clId="{FCC02F31-42AE-42F6-81CF-165AC447B74F}" dt="2026-06-05T04:54:49.117" v="202"/>
          <ac:spMkLst>
            <pc:docMk/>
            <pc:sldMk cId="4170711767" sldId="258"/>
            <ac:spMk id="3" creationId="{3A7D7817-9673-AE24-F2C0-6FDB2F5D0F9D}"/>
          </ac:spMkLst>
        </pc:spChg>
      </pc:sldChg>
      <pc:sldChg chg="modSp">
        <pc:chgData name="connie Takoi" userId="ba64fe7020973f7a" providerId="LiveId" clId="{FCC02F31-42AE-42F6-81CF-165AC447B74F}" dt="2026-06-05T04:54:49.117" v="202"/>
        <pc:sldMkLst>
          <pc:docMk/>
          <pc:sldMk cId="4202981618" sldId="259"/>
        </pc:sldMkLst>
        <pc:spChg chg="mod">
          <ac:chgData name="connie Takoi" userId="ba64fe7020973f7a" providerId="LiveId" clId="{FCC02F31-42AE-42F6-81CF-165AC447B74F}" dt="2026-06-05T04:54:49.117" v="202"/>
          <ac:spMkLst>
            <pc:docMk/>
            <pc:sldMk cId="4202981618" sldId="259"/>
            <ac:spMk id="3" creationId="{BED746C1-FD6E-3170-83BD-C3D1E8093FFA}"/>
          </ac:spMkLst>
        </pc:spChg>
      </pc:sldChg>
      <pc:sldChg chg="modSp mod">
        <pc:chgData name="connie Takoi" userId="ba64fe7020973f7a" providerId="LiveId" clId="{FCC02F31-42AE-42F6-81CF-165AC447B74F}" dt="2026-06-05T04:54:49.117" v="202"/>
        <pc:sldMkLst>
          <pc:docMk/>
          <pc:sldMk cId="653442713" sldId="260"/>
        </pc:sldMkLst>
        <pc:spChg chg="mod">
          <ac:chgData name="connie Takoi" userId="ba64fe7020973f7a" providerId="LiveId" clId="{FCC02F31-42AE-42F6-81CF-165AC447B74F}" dt="2026-06-05T04:54:49.117" v="202"/>
          <ac:spMkLst>
            <pc:docMk/>
            <pc:sldMk cId="653442713" sldId="260"/>
            <ac:spMk id="5" creationId="{B231DF9F-0E3B-79AE-5FB6-910E00C86FD7}"/>
          </ac:spMkLst>
        </pc:spChg>
      </pc:sldChg>
      <pc:sldChg chg="modSp">
        <pc:chgData name="connie Takoi" userId="ba64fe7020973f7a" providerId="LiveId" clId="{FCC02F31-42AE-42F6-81CF-165AC447B74F}" dt="2026-06-05T04:54:49.117" v="202"/>
        <pc:sldMkLst>
          <pc:docMk/>
          <pc:sldMk cId="1849136279" sldId="262"/>
        </pc:sldMkLst>
        <pc:spChg chg="mod">
          <ac:chgData name="connie Takoi" userId="ba64fe7020973f7a" providerId="LiveId" clId="{FCC02F31-42AE-42F6-81CF-165AC447B74F}" dt="2026-06-05T04:54:49.117" v="202"/>
          <ac:spMkLst>
            <pc:docMk/>
            <pc:sldMk cId="1849136279" sldId="262"/>
            <ac:spMk id="3" creationId="{F0F5E7CD-BA93-D48A-769C-46CC10C8B0D8}"/>
          </ac:spMkLst>
        </pc:spChg>
      </pc:sldChg>
      <pc:sldChg chg="modSp mod">
        <pc:chgData name="connie Takoi" userId="ba64fe7020973f7a" providerId="LiveId" clId="{FCC02F31-42AE-42F6-81CF-165AC447B74F}" dt="2026-06-05T04:54:49.117" v="202"/>
        <pc:sldMkLst>
          <pc:docMk/>
          <pc:sldMk cId="2353905502" sldId="263"/>
        </pc:sldMkLst>
        <pc:spChg chg="mod">
          <ac:chgData name="connie Takoi" userId="ba64fe7020973f7a" providerId="LiveId" clId="{FCC02F31-42AE-42F6-81CF-165AC447B74F}" dt="2026-06-05T04:54:49.117" v="202"/>
          <ac:spMkLst>
            <pc:docMk/>
            <pc:sldMk cId="2353905502" sldId="263"/>
            <ac:spMk id="2" creationId="{15CCA5D5-075A-B965-BE16-27C83F47430D}"/>
          </ac:spMkLst>
        </pc:spChg>
        <pc:spChg chg="mod">
          <ac:chgData name="connie Takoi" userId="ba64fe7020973f7a" providerId="LiveId" clId="{FCC02F31-42AE-42F6-81CF-165AC447B74F}" dt="2026-06-05T04:54:28.112" v="197"/>
          <ac:spMkLst>
            <pc:docMk/>
            <pc:sldMk cId="2353905502" sldId="263"/>
            <ac:spMk id="3" creationId="{E49D084B-8290-36FD-8A27-BCD7A1ED7523}"/>
          </ac:spMkLst>
        </pc:spChg>
      </pc:sldChg>
      <pc:sldChg chg="addSp delSp modSp new mod ord setBg">
        <pc:chgData name="connie Takoi" userId="ba64fe7020973f7a" providerId="LiveId" clId="{FCC02F31-42AE-42F6-81CF-165AC447B74F}" dt="2026-06-05T04:54:49.117" v="202"/>
        <pc:sldMkLst>
          <pc:docMk/>
          <pc:sldMk cId="3000652341" sldId="264"/>
        </pc:sldMkLst>
        <pc:spChg chg="add mod">
          <ac:chgData name="connie Takoi" userId="ba64fe7020973f7a" providerId="LiveId" clId="{FCC02F31-42AE-42F6-81CF-165AC447B74F}" dt="2026-06-05T04:54:49.117" v="202"/>
          <ac:spMkLst>
            <pc:docMk/>
            <pc:sldMk cId="3000652341" sldId="264"/>
            <ac:spMk id="2" creationId="{3DA97BE7-B4DA-59FC-E93F-44922B36B904}"/>
          </ac:spMkLst>
        </pc:spChg>
        <pc:spChg chg="del">
          <ac:chgData name="connie Takoi" userId="ba64fe7020973f7a" providerId="LiveId" clId="{FCC02F31-42AE-42F6-81CF-165AC447B74F}" dt="2026-06-05T04:52:03.562" v="159" actId="26606"/>
          <ac:spMkLst>
            <pc:docMk/>
            <pc:sldMk cId="3000652341" sldId="264"/>
            <ac:spMk id="3" creationId="{296B1472-B87A-137A-9204-E6BE58174D0A}"/>
          </ac:spMkLst>
        </pc:spChg>
        <pc:spChg chg="add del mod">
          <ac:chgData name="connie Takoi" userId="ba64fe7020973f7a" providerId="LiveId" clId="{FCC02F31-42AE-42F6-81CF-165AC447B74F}" dt="2026-06-05T04:52:17.468" v="162" actId="478"/>
          <ac:spMkLst>
            <pc:docMk/>
            <pc:sldMk cId="3000652341" sldId="264"/>
            <ac:spMk id="5" creationId="{77A3CD8F-BDA4-423A-93A1-75EE2C059050}"/>
          </ac:spMkLst>
        </pc:spChg>
        <pc:spChg chg="del mod replId">
          <ac:chgData name="connie Takoi" userId="ba64fe7020973f7a" providerId="LiveId" clId="{FCC02F31-42AE-42F6-81CF-165AC447B74F}" dt="2026-06-05T04:52:03.562" v="159" actId="26606"/>
          <ac:spMkLst>
            <pc:docMk/>
            <pc:sldMk cId="3000652341" sldId="264"/>
            <ac:spMk id="6" creationId="{1CC9D432-84E3-D966-60D7-7A7024AACDC6}"/>
          </ac:spMkLst>
        </pc:spChg>
        <pc:spChg chg="add del mod">
          <ac:chgData name="connie Takoi" userId="ba64fe7020973f7a" providerId="LiveId" clId="{FCC02F31-42AE-42F6-81CF-165AC447B74F}" dt="2026-06-05T04:53:44.209" v="193" actId="478"/>
          <ac:spMkLst>
            <pc:docMk/>
            <pc:sldMk cId="3000652341" sldId="264"/>
            <ac:spMk id="8" creationId="{D73F3D7D-41D1-AA97-E4C3-5B27CDFA7196}"/>
          </ac:spMkLst>
        </pc:spChg>
        <pc:spChg chg="add">
          <ac:chgData name="connie Takoi" userId="ba64fe7020973f7a" providerId="LiveId" clId="{FCC02F31-42AE-42F6-81CF-165AC447B74F}" dt="2026-06-05T04:52:03.562" v="159" actId="26606"/>
          <ac:spMkLst>
            <pc:docMk/>
            <pc:sldMk cId="3000652341" sldId="264"/>
            <ac:spMk id="10" creationId="{2961259D-605E-E200-FF9F-7C8C71D7C8E4}"/>
          </ac:spMkLst>
        </pc:spChg>
        <pc:picChg chg="add del mod">
          <ac:chgData name="connie Takoi" userId="ba64fe7020973f7a" providerId="LiveId" clId="{FCC02F31-42AE-42F6-81CF-165AC447B74F}" dt="2026-06-05T04:53:39.923" v="192" actId="478"/>
          <ac:picMkLst>
            <pc:docMk/>
            <pc:sldMk cId="3000652341" sldId="264"/>
            <ac:picMk id="4" creationId="{1DA1846C-344B-4787-A12D-A96422B025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94DB72-D796-38BB-7FA2-FFF8974E6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21EBC8-2D4C-E573-72CB-5C10CDD17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582E22-E8BA-3BB2-792A-0960F78DD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46963A-543C-1D9E-20CC-D6974188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619D1-27F4-F9F4-0E60-652C56E9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09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D7B9E-470F-30EB-C719-B0C7C1CC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A962BE-50FC-D705-9883-83E7515CC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9A7461-894D-E948-7830-A007866D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65A66E-25D0-3BB8-AAAA-DEB9E7F3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083C15-737B-4575-DB3C-72C341F9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6253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4A359B-2E00-C7CB-09D3-A3EC4AFE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A50336-A42A-C682-13A1-0E4EBF3CA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EF5EDE-C910-A2EC-2350-BAFD44E22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035ECC-AF8F-26CE-8C3D-8B3E145D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8ECB61-B086-DA82-67DC-7335C2F1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2248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A24C7-A073-5362-ACC5-B0FFC23E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D14EB1-572B-F374-ED1D-F885DC4CB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690E19-6B33-8430-0455-E1BB3A173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079C40-3A89-A1A7-4588-C2BECA10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86DC21-41B3-5F4B-9627-35190D8B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6808E5-403E-2239-4590-801D72A7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0433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BE24EE-1E22-F282-E46B-2E3C9B9B8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916732-89A1-13A1-B599-96FCDFBD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1C054F-F03A-CC7A-3E29-A5656794E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D320A9A-C075-E879-787E-0E48F836B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4459A4-7B3A-ACA5-C640-0892F1824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E28A71D-A472-2CC4-AF1A-1E13E466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904D129-F468-29A4-F968-D553AFCF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F57188-7AED-259A-8A64-9C9280CB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46028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BBF128-E975-740E-04A6-A94A5F06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D58C545-D8A4-0097-739E-06A5AEA01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423238-1E5A-7C28-395B-6362E019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89D2080-85DF-11D3-7D3D-F137708C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5963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838B9FF-46D8-8DBF-72B2-D1ED5781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720561A-93D6-24A2-1CFD-092C4667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8A2BAE-31C3-9CE2-AFC5-5F75AF7C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6267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5AEAC9-B461-C5DE-0A74-07A3BB76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59C398-63DE-C005-C97E-3F7EF83C7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9BA3342-A068-DA53-F445-9E637DE88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C87978-4D1F-C1EB-1945-101C7229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028760-EEEC-CFCF-AF9A-6D02EC42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455454-0A86-2350-9A8D-AA15171F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13414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F7C3A-6C50-F6B2-2A8D-78D8444E4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8FC92A1-0951-119A-5D63-7BA067788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B8D93C-666F-38DE-3AEE-DCE64F2A3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D8E5CA-C29A-29DA-F173-DE4CA29F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2CCB5C-C55C-C08C-561F-F178B0D4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FE06A2-C76E-4DC5-ECB9-7EAFCE6E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8745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6BCE2D-34DB-BAC3-77B0-F016FCE4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3CDE93-AC6A-0A24-0584-A7B9034D3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D8E214-D819-3EE6-EF2C-26863D64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2E4FFC-EE58-0095-1510-6635A782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6BA1AC-2972-DB8C-2C38-9778930D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9616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EC05C2-60C5-851D-70F7-5C70DDD3E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DA41C3C-3604-D69B-7CF8-D5C7F6533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DC0483-BD25-D12D-BF6A-165A5F30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67C36F-AF66-A6AF-FB93-2804D385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392C11-FB23-57D9-574C-B39656B8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1690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2F6FAE-F251-FAEA-2BCE-623E6853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77BE88-DA69-C1EB-38EC-13190AD8D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E4FDD8-80A5-9A43-E768-6772DB585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57810-1C23-AB48-B351-C3C917A60D4E}" type="datetimeFigureOut">
              <a:rPr lang="en-US" altLang="zh-HK" smtClean="0"/>
              <a:t>6/5/2026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94A140-78B3-5574-0914-E194DF1D2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BEA7C-9B95-84C6-06EA-C714F3033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C2BF4-5EC9-D84C-9728-01E1D4A4286B}" type="slidenum">
              <a:rPr lang="en-US" altLang="zh-HK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3508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E14E92F-F310-46A2-6B3A-04855727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098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F87959-9919-0C99-18EF-2FF9E2E14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33472"/>
            <a:ext cx="3572371" cy="1511454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zh-HK" sz="2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賽馬會慈雲山青少年綜合服務中心（龍蟠苑辦事處）</a:t>
            </a:r>
            <a:r>
              <a:rPr lang="zh-HK" altLang="en-US" sz="2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「</a:t>
            </a:r>
            <a:r>
              <a:rPr lang="zh-TW" altLang="en-US" sz="2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半</a:t>
            </a:r>
            <a:r>
              <a:rPr lang="zh-HK" altLang="en-US" sz="28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」</a:t>
            </a:r>
            <a:r>
              <a:rPr lang="zh-TW" altLang="zh-HK" sz="2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自動化語音廣播系統</a:t>
            </a:r>
            <a:r>
              <a:rPr lang="zh-TW" altLang="en-US" sz="2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發布</a:t>
            </a:r>
            <a:endParaRPr lang="zh-HK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9B3903-056A-CDE1-3A36-41FBDA0B8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8574"/>
            <a:ext cx="3968005" cy="572792"/>
          </a:xfrm>
        </p:spPr>
        <p:txBody>
          <a:bodyPr>
            <a:normAutofit/>
          </a:bodyPr>
          <a:lstStyle/>
          <a:p>
            <a:pPr algn="l"/>
            <a:r>
              <a:rPr lang="zh-HK" altLang="zh-HK" sz="2000" b="0" i="0" dirty="0">
                <a:effectLst/>
                <a:latin typeface=".SFUI-Regular"/>
              </a:rPr>
              <a:t>提升中心運作效率與自動化管理</a:t>
            </a:r>
            <a:endParaRPr lang="zh-HK" altLang="zh-HK" sz="2000" dirty="0">
              <a:effectLst/>
              <a:latin typeface=".AppleSystemUIFont"/>
            </a:endParaRPr>
          </a:p>
          <a:p>
            <a:pPr algn="l"/>
            <a:endParaRPr lang="zh-HK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B9FFA48-4FF0-5C16-A088-12144DE30964}"/>
              </a:ext>
            </a:extLst>
          </p:cNvPr>
          <p:cNvSpPr txBox="1"/>
          <p:nvPr/>
        </p:nvSpPr>
        <p:spPr>
          <a:xfrm>
            <a:off x="-3" y="4852559"/>
            <a:ext cx="1785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98"/>
              </a:spcBef>
              <a:buNone/>
            </a:pPr>
            <a:r>
              <a:rPr lang="zh-HK" altLang="en-US" dirty="0">
                <a:effectLst/>
                <a:latin typeface=".AppleSystemUIFont"/>
              </a:rPr>
              <a:t>報告人</a:t>
            </a:r>
            <a:r>
              <a:rPr lang="zh-CN" altLang="en-US" dirty="0">
                <a:latin typeface=".AppleSystemUIFont"/>
              </a:rPr>
              <a:t>：朱孝賢</a:t>
            </a:r>
            <a:endParaRPr lang="zh-HK" altLang="zh-HK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561733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1EF12CD-514F-8D77-87D5-522E2D1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26" y="1243419"/>
            <a:ext cx="1736455" cy="1069367"/>
          </a:xfrm>
        </p:spPr>
        <p:txBody>
          <a:bodyPr anchor="b">
            <a:normAutofit/>
          </a:bodyPr>
          <a:lstStyle/>
          <a:p>
            <a:r>
              <a:rPr lang="zh-HK" altLang="en-US" sz="5400" dirty="0"/>
              <a:t>引言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99BFE3-79FD-E956-EC51-1AE05341B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58329"/>
            <a:ext cx="4991661" cy="317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HK" altLang="zh-HK" sz="2400" i="0" dirty="0">
                <a:effectLst/>
                <a:latin typeface=".SFUI-Regular"/>
              </a:rPr>
              <a:t>本項目</a:t>
            </a:r>
            <a:r>
              <a:rPr lang="zh-HK" altLang="en-US" sz="2400" i="0" dirty="0">
                <a:effectLst/>
                <a:latin typeface=".SFUI-Regular"/>
              </a:rPr>
              <a:t>的目的</a:t>
            </a:r>
            <a:r>
              <a:rPr lang="zh-HK" altLang="en-US" sz="2400" dirty="0">
                <a:latin typeface=".SFUI-Regular"/>
              </a:rPr>
              <a:t>是製作</a:t>
            </a:r>
            <a:r>
              <a:rPr lang="zh-HK" altLang="zh-HK" sz="2400" i="0" dirty="0">
                <a:effectLst/>
                <a:latin typeface=".SFUI-Regular"/>
              </a:rPr>
              <a:t>賽馬會慈雲山綜合服務中心（龍蟠苑辦事處）</a:t>
            </a:r>
            <a:r>
              <a:rPr lang="zh-HK" altLang="en-US" sz="2400" i="0" dirty="0">
                <a:effectLst/>
                <a:latin typeface=".SFUI-Regular"/>
              </a:rPr>
              <a:t>的</a:t>
            </a:r>
            <a:r>
              <a:rPr lang="zh-HK" altLang="en-US" sz="24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「</a:t>
            </a:r>
            <a:r>
              <a:rPr lang="zh-TW" altLang="en-US" sz="24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半</a:t>
            </a:r>
            <a:r>
              <a:rPr lang="zh-HK" altLang="en-US" sz="2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」</a:t>
            </a:r>
            <a:r>
              <a:rPr lang="zh-TW" altLang="zh-HK" sz="24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自動化語音廣播</a:t>
            </a:r>
            <a:r>
              <a:rPr lang="zh-HK" altLang="en-US" sz="2400" i="0" dirty="0">
                <a:effectLst/>
                <a:latin typeface=".SFUI-Regular"/>
              </a:rPr>
              <a:t>系統</a:t>
            </a:r>
            <a:r>
              <a:rPr lang="zh-HK" altLang="zh-HK" sz="2400" i="0" dirty="0">
                <a:effectLst/>
                <a:latin typeface=".SFUI-Regular"/>
              </a:rPr>
              <a:t>。透過自主研發之自動化腳本技術，系統全面取代傳統人工作業，實現了中心</a:t>
            </a:r>
            <a:r>
              <a:rPr lang="zh-HK" altLang="en-US" sz="2400" i="0" dirty="0">
                <a:effectLst/>
                <a:latin typeface=".SFUI-Regular"/>
              </a:rPr>
              <a:t>關門</a:t>
            </a:r>
            <a:r>
              <a:rPr lang="zh-HK" altLang="zh-HK" sz="2400" i="0" dirty="0">
                <a:effectLst/>
                <a:latin typeface=".SFUI-Regular"/>
              </a:rPr>
              <a:t>廣播之</a:t>
            </a:r>
            <a:r>
              <a:rPr lang="zh-HK" altLang="en-US" sz="2400" i="0" dirty="0">
                <a:effectLst/>
                <a:latin typeface=".SFUI-Regular"/>
              </a:rPr>
              <a:t>「半」</a:t>
            </a:r>
            <a:r>
              <a:rPr lang="zh-HK" altLang="zh-HK" sz="2400" i="0" dirty="0">
                <a:effectLst/>
                <a:latin typeface=".SFUI-Regular"/>
              </a:rPr>
              <a:t>自動化，並建立了一套完善的故障排除與手動介入機制，確保日常運作穩定無誤。</a:t>
            </a:r>
            <a:endParaRPr lang="zh-HK" altLang="zh-HK" sz="2400" dirty="0">
              <a:effectLst/>
              <a:latin typeface=".AppleSystemUIFon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E0D77FF-D657-7116-5618-AF20E2C2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1" r="11596" b="-1"/>
          <a:stretch>
            <a:fillRect/>
          </a:stretch>
        </p:blipFill>
        <p:spPr>
          <a:xfrm>
            <a:off x="5313225" y="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354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AC3B28-C8EB-BAB5-6872-42FC33E9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K" altLang="en-US" dirty="0"/>
              <a:t>以前的做法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7D7817-9673-AE24-F2C0-6FDB2F5D0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2184"/>
            <a:ext cx="12192000" cy="47047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HK" altLang="zh-HK" sz="3000" b="0" i="0" dirty="0">
                <a:effectLst/>
                <a:latin typeface="Helvetica" pitchFamily="2" charset="0"/>
              </a:rPr>
              <a:t>過往</a:t>
            </a:r>
            <a:r>
              <a:rPr lang="zh-HK" altLang="en-US" sz="3000" b="0" i="0" dirty="0">
                <a:effectLst/>
                <a:latin typeface="Helvetica" pitchFamily="2" charset="0"/>
              </a:rPr>
              <a:t>需要</a:t>
            </a:r>
            <a:r>
              <a:rPr lang="zh-HK" altLang="zh-HK" sz="3000" b="0" i="0" dirty="0">
                <a:effectLst/>
                <a:latin typeface="Helvetica" pitchFamily="2" charset="0"/>
              </a:rPr>
              <a:t>職員手動操作光碟機</a:t>
            </a:r>
            <a:r>
              <a:rPr lang="zh-HK" altLang="en-US" sz="3000" dirty="0">
                <a:latin typeface="Helvetica" pitchFamily="2" charset="0"/>
              </a:rPr>
              <a:t>或使用咪高峰去說話（</a:t>
            </a:r>
            <a:r>
              <a:rPr lang="en-US" altLang="zh-HK" sz="3000" dirty="0">
                <a:latin typeface="Helvetica" pitchFamily="2" charset="0"/>
              </a:rPr>
              <a:t>2016-2018</a:t>
            </a:r>
            <a:r>
              <a:rPr lang="zh-HK" altLang="en-US" sz="3000" dirty="0">
                <a:latin typeface="Helvetica" pitchFamily="2" charset="0"/>
              </a:rPr>
              <a:t>年時）</a:t>
            </a:r>
            <a:r>
              <a:rPr lang="zh-HK" altLang="zh-HK" sz="3000" b="0" i="0" dirty="0">
                <a:effectLst/>
                <a:latin typeface="Helvetica" pitchFamily="2" charset="0"/>
              </a:rPr>
              <a:t>，不僅流程繁瑣，更嚴重依賴人員的時間管理。</a:t>
            </a:r>
            <a:r>
              <a:rPr lang="zh-CN" altLang="en-US" sz="3000" dirty="0">
                <a:effectLst/>
                <a:latin typeface="Helvetica" pitchFamily="2" charset="0"/>
              </a:rPr>
              <a:t>以下是</a:t>
            </a:r>
            <a:r>
              <a:rPr lang="zh-HK" altLang="zh-HK" sz="3000" dirty="0">
                <a:latin typeface="Helvetica" pitchFamily="2" charset="0"/>
              </a:rPr>
              <a:t>手動操作光碟機</a:t>
            </a:r>
            <a:r>
              <a:rPr lang="zh-HK" altLang="en-US" sz="3000" dirty="0">
                <a:latin typeface="Helvetica" pitchFamily="2" charset="0"/>
              </a:rPr>
              <a:t>或使用咪高峰</a:t>
            </a:r>
            <a:r>
              <a:rPr lang="zh-CN" altLang="en-US" sz="3000" dirty="0">
                <a:latin typeface="Helvetica" pitchFamily="2" charset="0"/>
              </a:rPr>
              <a:t>的一些問題</a:t>
            </a:r>
            <a:endParaRPr lang="zh-HK" altLang="zh-HK" sz="30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zh-CN" altLang="en-US" sz="3000" dirty="0">
                <a:latin typeface="Helvetica" pitchFamily="2" charset="0"/>
              </a:rPr>
              <a:t>問題一</a:t>
            </a:r>
            <a:r>
              <a:rPr lang="en-US" altLang="zh-CN" sz="3000" dirty="0">
                <a:latin typeface="Helvetica" pitchFamily="2" charset="0"/>
                <a:sym typeface="Wingdings" panose="05000000000000000000" pitchFamily="2" charset="2"/>
              </a:rPr>
              <a:t></a:t>
            </a:r>
            <a:r>
              <a:rPr lang="zh-HK" altLang="zh-HK" sz="3000" b="0" i="0" dirty="0">
                <a:effectLst/>
                <a:latin typeface="Helvetica" pitchFamily="2" charset="0"/>
              </a:rPr>
              <a:t>人力</a:t>
            </a:r>
            <a:r>
              <a:rPr lang="zh-CN" altLang="en-US" sz="3000" b="0" i="0" dirty="0">
                <a:effectLst/>
                <a:latin typeface="Helvetica" pitchFamily="2" charset="0"/>
              </a:rPr>
              <a:t>不足</a:t>
            </a:r>
            <a:r>
              <a:rPr lang="zh-HK" altLang="zh-HK" sz="3000" b="0" i="0" dirty="0">
                <a:effectLst/>
                <a:latin typeface="Helvetica" pitchFamily="2" charset="0"/>
              </a:rPr>
              <a:t>：職員需在接近</a:t>
            </a:r>
            <a:r>
              <a:rPr lang="zh-HK" altLang="en-US" sz="3000" dirty="0">
                <a:latin typeface="Helvetica" pitchFamily="2" charset="0"/>
              </a:rPr>
              <a:t>關</a:t>
            </a:r>
            <a:r>
              <a:rPr lang="zh-HK" altLang="en-US" sz="3000" b="0" i="0" dirty="0">
                <a:effectLst/>
                <a:latin typeface="Helvetica" pitchFamily="2" charset="0"/>
              </a:rPr>
              <a:t>門</a:t>
            </a:r>
            <a:r>
              <a:rPr lang="zh-HK" altLang="zh-HK" sz="3000" b="0" i="0" dirty="0">
                <a:effectLst/>
                <a:latin typeface="Helvetica" pitchFamily="2" charset="0"/>
              </a:rPr>
              <a:t>時段預留時間處理播放</a:t>
            </a:r>
            <a:r>
              <a:rPr lang="en-US" altLang="zh-HK" sz="3000" b="0" i="0" dirty="0">
                <a:effectLst/>
                <a:latin typeface="Helvetica" pitchFamily="2" charset="0"/>
              </a:rPr>
              <a:t>/</a:t>
            </a:r>
            <a:r>
              <a:rPr lang="zh-HK" altLang="en-US" sz="3000" b="0" i="0" dirty="0">
                <a:effectLst/>
                <a:latin typeface="Helvetica" pitchFamily="2" charset="0"/>
              </a:rPr>
              <a:t>說話</a:t>
            </a:r>
            <a:r>
              <a:rPr lang="zh-HK" altLang="zh-HK" sz="3000" b="0" i="0" dirty="0">
                <a:effectLst/>
                <a:latin typeface="Helvetica" pitchFamily="2" charset="0"/>
              </a:rPr>
              <a:t>，影響前線服務效能。</a:t>
            </a:r>
            <a:endParaRPr lang="zh-HK" altLang="zh-HK" sz="30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zh-CN" altLang="en-US" sz="3000" dirty="0">
                <a:latin typeface="Helvetica" pitchFamily="2" charset="0"/>
              </a:rPr>
              <a:t>問題二</a:t>
            </a:r>
            <a:r>
              <a:rPr lang="en-US" altLang="zh-CN" sz="3000" dirty="0">
                <a:latin typeface="Helvetica" pitchFamily="2" charset="0"/>
                <a:sym typeface="Wingdings" panose="05000000000000000000" pitchFamily="2" charset="2"/>
              </a:rPr>
              <a:t></a:t>
            </a:r>
            <a:r>
              <a:rPr lang="zh-HK" altLang="zh-HK" sz="3000" b="0" i="0" dirty="0">
                <a:effectLst/>
                <a:latin typeface="Helvetica" pitchFamily="2" charset="0"/>
              </a:rPr>
              <a:t>播放</a:t>
            </a:r>
            <a:r>
              <a:rPr lang="zh-CN" altLang="en-US" sz="3000" b="0" i="0" dirty="0">
                <a:effectLst/>
                <a:latin typeface="Helvetica" pitchFamily="2" charset="0"/>
              </a:rPr>
              <a:t>的時間</a:t>
            </a:r>
            <a:r>
              <a:rPr lang="zh-HK" altLang="zh-HK" sz="3000" b="0" i="0" dirty="0">
                <a:effectLst/>
                <a:latin typeface="Helvetica" pitchFamily="2" charset="0"/>
              </a:rPr>
              <a:t>不穩定：如</a:t>
            </a:r>
            <a:r>
              <a:rPr lang="zh-CN" altLang="en-US" sz="3000" dirty="0">
                <a:latin typeface="Helvetica" pitchFamily="2" charset="0"/>
              </a:rPr>
              <a:t>果</a:t>
            </a:r>
            <a:r>
              <a:rPr lang="zh-HK" altLang="zh-HK" sz="3000" b="0" i="0" dirty="0">
                <a:effectLst/>
                <a:latin typeface="Helvetica" pitchFamily="2" charset="0"/>
              </a:rPr>
              <a:t>光碟</a:t>
            </a:r>
            <a:r>
              <a:rPr lang="zh-CN" altLang="en-US" sz="3000" b="0" i="0" dirty="0">
                <a:effectLst/>
                <a:latin typeface="Helvetica" pitchFamily="2" charset="0"/>
              </a:rPr>
              <a:t>無法</a:t>
            </a:r>
            <a:r>
              <a:rPr lang="zh-HK" altLang="zh-HK" sz="3000" b="0" i="0" dirty="0">
                <a:effectLst/>
                <a:latin typeface="Helvetica" pitchFamily="2" charset="0"/>
              </a:rPr>
              <a:t>失敗或播放內容中斷，系統缺乏即時排除機制，導致服務廣播遺漏。</a:t>
            </a:r>
            <a:endParaRPr lang="en-US" altLang="zh-HK" sz="3000" b="0" i="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zh-CN" altLang="en-US" sz="3000" dirty="0">
                <a:latin typeface="Helvetica" pitchFamily="2" charset="0"/>
                <a:sym typeface="Wingdings" panose="05000000000000000000" pitchFamily="2" charset="2"/>
              </a:rPr>
              <a:t>問題三</a:t>
            </a:r>
            <a:r>
              <a:rPr lang="en-US" altLang="zh-CN" sz="3000" dirty="0">
                <a:latin typeface="Helvetica" pitchFamily="2" charset="0"/>
                <a:sym typeface="Wingdings" panose="05000000000000000000" pitchFamily="2" charset="2"/>
              </a:rPr>
              <a:t></a:t>
            </a:r>
            <a:r>
              <a:rPr lang="zh-CN" altLang="en-US" sz="3000" dirty="0">
                <a:latin typeface="Helvetica" pitchFamily="2" charset="0"/>
                <a:sym typeface="Wingdings" panose="05000000000000000000" pitchFamily="2" charset="2"/>
              </a:rPr>
              <a:t>時間</a:t>
            </a:r>
            <a:r>
              <a:rPr lang="zh-HK" altLang="zh-HK" sz="3000" dirty="0">
                <a:latin typeface="Helvetica" pitchFamily="2" charset="0"/>
              </a:rPr>
              <a:t>準確性不足：</a:t>
            </a:r>
            <a:r>
              <a:rPr lang="zh-CN" altLang="en-US" sz="3000" dirty="0">
                <a:latin typeface="Helvetica" pitchFamily="2" charset="0"/>
              </a:rPr>
              <a:t>需要</a:t>
            </a:r>
            <a:r>
              <a:rPr lang="zh-HK" altLang="zh-HK" sz="3000" dirty="0">
                <a:latin typeface="Helvetica" pitchFamily="2" charset="0"/>
              </a:rPr>
              <a:t>依賴職員判斷時間</a:t>
            </a:r>
            <a:r>
              <a:rPr lang="zh-CN" altLang="en-US" sz="3000" dirty="0">
                <a:latin typeface="Helvetica" pitchFamily="2" charset="0"/>
              </a:rPr>
              <a:t>去</a:t>
            </a:r>
            <a:r>
              <a:rPr lang="zh-HK" altLang="zh-HK" sz="3000" dirty="0">
                <a:latin typeface="Helvetica" pitchFamily="2" charset="0"/>
              </a:rPr>
              <a:t>操作光碟機</a:t>
            </a:r>
            <a:r>
              <a:rPr lang="en-US" altLang="zh-HK" sz="3000" dirty="0">
                <a:latin typeface="Helvetica" pitchFamily="2" charset="0"/>
              </a:rPr>
              <a:t>/</a:t>
            </a:r>
            <a:r>
              <a:rPr lang="zh-CN" altLang="en-US" sz="3000" dirty="0">
                <a:latin typeface="Helvetica" pitchFamily="2" charset="0"/>
              </a:rPr>
              <a:t>說話</a:t>
            </a:r>
            <a:r>
              <a:rPr lang="zh-HK" altLang="zh-HK" sz="3000" dirty="0">
                <a:latin typeface="Helvetica" pitchFamily="2" charset="0"/>
              </a:rPr>
              <a:t>，難以保持每日廣播的絕對準時。</a:t>
            </a:r>
          </a:p>
        </p:txBody>
      </p:sp>
    </p:spTree>
    <p:extLst>
      <p:ext uri="{BB962C8B-B14F-4D97-AF65-F5344CB8AC3E}">
        <p14:creationId xmlns:p14="http://schemas.microsoft.com/office/powerpoint/2010/main" val="4170711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31FAAF-B86F-3EDF-75B5-0BB82E38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K" altLang="en-US" dirty="0"/>
              <a:t>現在的做法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D746C1-FD6E-3170-83BD-C3D1E8093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HK" altLang="zh-HK" b="0" i="0" dirty="0">
                <a:effectLst/>
                <a:latin typeface="Helvetica" pitchFamily="2" charset="0"/>
              </a:rPr>
              <a:t>優化方案：引入自動化技術，系統</a:t>
            </a:r>
            <a:r>
              <a:rPr lang="zh-CN" altLang="en-US" dirty="0">
                <a:latin typeface="Helvetica" pitchFamily="2" charset="0"/>
              </a:rPr>
              <a:t>會</a:t>
            </a:r>
            <a:r>
              <a:rPr lang="zh-HK" altLang="zh-HK" b="0" i="0" dirty="0">
                <a:effectLst/>
                <a:latin typeface="Helvetica" pitchFamily="2" charset="0"/>
              </a:rPr>
              <a:t>自動抓取</a:t>
            </a:r>
            <a:r>
              <a:rPr lang="zh-HK" altLang="en-US" b="0" i="0" dirty="0">
                <a:effectLst/>
                <a:latin typeface="Helvetica" pitchFamily="2" charset="0"/>
              </a:rPr>
              <a:t>電腦的</a:t>
            </a:r>
            <a:r>
              <a:rPr lang="zh-HK" altLang="zh-HK" b="0" i="0" dirty="0">
                <a:effectLst/>
                <a:latin typeface="Helvetica" pitchFamily="2" charset="0"/>
              </a:rPr>
              <a:t>標準時間</a:t>
            </a:r>
            <a:r>
              <a:rPr lang="en-US" altLang="zh-HK" dirty="0">
                <a:latin typeface="Helvetica" pitchFamily="2" charset="0"/>
              </a:rPr>
              <a:t>(</a:t>
            </a:r>
            <a:r>
              <a:rPr lang="zh-CN" altLang="en-US" dirty="0">
                <a:latin typeface="Helvetica" pitchFamily="2" charset="0"/>
              </a:rPr>
              <a:t>電腦使用的時區是</a:t>
            </a:r>
            <a:r>
              <a:rPr lang="en-US" altLang="zh-CN" dirty="0">
                <a:latin typeface="Helvetica" pitchFamily="2" charset="0"/>
                <a:sym typeface="Wingdings" panose="05000000000000000000" pitchFamily="2" charset="2"/>
              </a:rPr>
              <a:t></a:t>
            </a:r>
            <a:r>
              <a:rPr lang="zh-Hans-HK" altLang="zh-Hans-HK" dirty="0"/>
              <a:t>香港時間</a:t>
            </a:r>
            <a:r>
              <a:rPr lang="en-US" altLang="zh-Hans-HK" dirty="0"/>
              <a:t>HKT)</a:t>
            </a:r>
            <a:r>
              <a:rPr lang="zh-HK" altLang="en-US" b="0" i="0" dirty="0">
                <a:effectLst/>
                <a:latin typeface="Helvetica" pitchFamily="2" charset="0"/>
              </a:rPr>
              <a:t>去</a:t>
            </a:r>
            <a:r>
              <a:rPr lang="zh-HK" altLang="zh-HK" b="0" i="0" dirty="0">
                <a:effectLst/>
                <a:latin typeface="Helvetica" pitchFamily="2" charset="0"/>
              </a:rPr>
              <a:t>播放。</a:t>
            </a:r>
            <a:r>
              <a:rPr lang="zh-CN" altLang="en-US" dirty="0">
                <a:latin typeface="Helvetica" pitchFamily="2" charset="0"/>
              </a:rPr>
              <a:t>以下是</a:t>
            </a:r>
            <a:r>
              <a:rPr lang="zh-HK" altLang="zh-HK" dirty="0">
                <a:latin typeface="Helvetica" pitchFamily="2" charset="0"/>
              </a:rPr>
              <a:t>引入自動化技術</a:t>
            </a:r>
            <a:r>
              <a:rPr lang="zh-CN" altLang="en-US" dirty="0">
                <a:latin typeface="Helvetica" pitchFamily="2" charset="0"/>
              </a:rPr>
              <a:t>的好</a:t>
            </a:r>
            <a:endParaRPr lang="zh-HK" altLang="zh-HK" dirty="0">
              <a:effectLst/>
              <a:latin typeface="Helvetica" pitchFamily="2" charset="0"/>
            </a:endParaRPr>
          </a:p>
          <a:p>
            <a:r>
              <a:rPr lang="zh-CN" altLang="en-US" b="0" i="0" dirty="0">
                <a:effectLst/>
                <a:latin typeface="Helvetica" pitchFamily="2" charset="0"/>
              </a:rPr>
              <a:t>好一</a:t>
            </a:r>
            <a:r>
              <a:rPr lang="en-US" altLang="zh-CN" b="0" i="0" dirty="0">
                <a:effectLst/>
                <a:latin typeface="Helvetica" pitchFamily="2" charset="0"/>
              </a:rPr>
              <a:t>:</a:t>
            </a:r>
            <a:r>
              <a:rPr lang="zh-HK" altLang="zh-HK" b="0" i="0" dirty="0">
                <a:effectLst/>
                <a:latin typeface="Helvetica" pitchFamily="2" charset="0"/>
              </a:rPr>
              <a:t>精準度提升：</a:t>
            </a:r>
            <a:r>
              <a:rPr lang="zh-CN" altLang="en-US" b="0" i="0" dirty="0">
                <a:effectLst/>
                <a:latin typeface="Helvetica" pitchFamily="2" charset="0"/>
              </a:rPr>
              <a:t>程式</a:t>
            </a:r>
            <a:r>
              <a:rPr lang="zh-HK" altLang="zh-HK" b="0" i="0" dirty="0">
                <a:effectLst/>
                <a:latin typeface="Helvetica" pitchFamily="2" charset="0"/>
              </a:rPr>
              <a:t>成功實現</a:t>
            </a:r>
            <a:r>
              <a:rPr lang="zh-HK" altLang="en-US" b="0" i="0" dirty="0">
                <a:effectLst/>
                <a:latin typeface="Helvetica" pitchFamily="2" charset="0"/>
              </a:rPr>
              <a:t>關門</a:t>
            </a:r>
            <a:r>
              <a:rPr lang="zh-HK" altLang="zh-HK" b="0" i="0" dirty="0">
                <a:effectLst/>
                <a:latin typeface="Helvetica" pitchFamily="2" charset="0"/>
              </a:rPr>
              <a:t>廣播之自動化，解決人手操作的時間誤差</a:t>
            </a:r>
            <a:endParaRPr lang="zh-HK" altLang="zh-HK" dirty="0">
              <a:effectLst/>
              <a:latin typeface="Helvetica" pitchFamily="2" charset="0"/>
            </a:endParaRPr>
          </a:p>
          <a:p>
            <a:r>
              <a:rPr lang="zh-HK" altLang="zh-HK" b="0" i="0" dirty="0">
                <a:effectLst/>
                <a:latin typeface="Helvetica" pitchFamily="2" charset="0"/>
              </a:rPr>
              <a:t>環境權限限制：因辦事處</a:t>
            </a:r>
            <a:r>
              <a:rPr lang="zh-HK" altLang="en-US" b="0" i="0" dirty="0">
                <a:effectLst/>
                <a:latin typeface="Helvetica" pitchFamily="2" charset="0"/>
              </a:rPr>
              <a:t>需要節省能源</a:t>
            </a:r>
            <a:r>
              <a:rPr lang="zh-HK" altLang="zh-HK" b="0" i="0" dirty="0">
                <a:effectLst/>
                <a:latin typeface="Helvetica" pitchFamily="2" charset="0"/>
              </a:rPr>
              <a:t>，目前暫</a:t>
            </a:r>
            <a:r>
              <a:rPr lang="zh-CN" altLang="en-US" dirty="0">
                <a:latin typeface="Helvetica" pitchFamily="2" charset="0"/>
              </a:rPr>
              <a:t>時</a:t>
            </a:r>
            <a:r>
              <a:rPr lang="zh-HK" altLang="zh-HK" b="0" i="0" dirty="0">
                <a:effectLst/>
                <a:latin typeface="Helvetica" pitchFamily="2" charset="0"/>
              </a:rPr>
              <a:t>無法實施遠端喚醒（WOL）。</a:t>
            </a:r>
            <a:endParaRPr lang="zh-HK" altLang="zh-HK" dirty="0">
              <a:effectLst/>
              <a:latin typeface="Helvetica" pitchFamily="2" charset="0"/>
            </a:endParaRPr>
          </a:p>
          <a:p>
            <a:r>
              <a:rPr lang="zh-HK" altLang="zh-HK" b="0" i="0" dirty="0">
                <a:effectLst/>
                <a:latin typeface="Helvetica" pitchFamily="2" charset="0"/>
              </a:rPr>
              <a:t>現行運作策略：採取「半自動化」策略，即由職員負責開機，再由自動廣播系統接管後續排程與日誌記錄（Write Log），確保在現有權限範圍內實現穩定運行。</a:t>
            </a:r>
            <a:endParaRPr lang="zh-HK" altLang="zh-HK" dirty="0">
              <a:effectLst/>
              <a:latin typeface="Helvetica" pitchFamily="2" charset="0"/>
            </a:endParaRP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20298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E82474-0905-9978-FEB1-76A9B841C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zh-CN" b="0" i="0" dirty="0">
                <a:effectLst/>
                <a:latin typeface="Helvetica" pitchFamily="2" charset="0"/>
              </a:rPr>
              <a:t>系統運行示範：「半自動」操作邏輯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B1E8F1-5F02-3E7C-5A44-B56D6E777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5222"/>
            <a:ext cx="5909901" cy="4309233"/>
          </a:xfrm>
        </p:spPr>
        <p:txBody>
          <a:bodyPr>
            <a:normAutofit/>
          </a:bodyPr>
          <a:lstStyle/>
          <a:p>
            <a:endParaRPr lang="zh-CN" altLang="zh-CN" dirty="0">
              <a:effectLst/>
              <a:latin typeface="Helvetica" pitchFamily="2" charset="0"/>
            </a:endParaRPr>
          </a:p>
          <a:p>
            <a:endParaRPr lang="zh-HK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31DF9F-0E3B-79AE-5FB6-910E00C86FD7}"/>
              </a:ext>
            </a:extLst>
          </p:cNvPr>
          <p:cNvSpPr txBox="1"/>
          <p:nvPr/>
        </p:nvSpPr>
        <p:spPr>
          <a:xfrm>
            <a:off x="0" y="1023545"/>
            <a:ext cx="12192000" cy="6122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第一步：啟動</a:t>
            </a:r>
            <a:r>
              <a:rPr lang="zh-HK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電腦</a:t>
            </a:r>
            <a:endParaRPr lang="zh-HK" altLang="zh-HK" sz="24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由於</a:t>
            </a:r>
            <a:r>
              <a:rPr lang="zh-HK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本中心</a:t>
            </a:r>
            <a:r>
              <a:rPr lang="zh-CN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（</a:t>
            </a:r>
            <a:r>
              <a:rPr lang="zh-TW" altLang="zh-HK" sz="24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龍蟠苑辦事處</a:t>
            </a:r>
            <a:r>
              <a:rPr lang="zh-CN" altLang="en-US" sz="2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新細明體" panose="02020500000000000000" pitchFamily="18" charset="-120"/>
                <a:cs typeface="Times New Roman" panose="02020603050405020304" pitchFamily="18" charset="0"/>
              </a:rPr>
              <a:t>）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的環境因素限制，我採取了安全的做法，由前臺職員負責開啟電源。這是系統運作中唯一需要人工參與的環節，確保了系統是在安全的狀態下通電。</a:t>
            </a:r>
            <a:endParaRPr lang="zh-HK" altLang="zh-HK" sz="24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第二步：同步</a:t>
            </a:r>
            <a:r>
              <a:rPr lang="zh-HK" altLang="en-US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時間和載入程式</a:t>
            </a:r>
            <a:endParaRPr lang="zh-HK" altLang="zh-HK" sz="24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當電腦啟動後，我編寫的 Python 程式會自動載入，並與電腦時間</a:t>
            </a:r>
            <a:r>
              <a:rPr lang="en-US" altLang="zh-HK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(</a:t>
            </a:r>
            <a:r>
              <a:rPr lang="zh-CN" altLang="en-US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香港時間</a:t>
            </a:r>
            <a:r>
              <a:rPr lang="en-US" altLang="zh-CN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UTC-8</a:t>
            </a:r>
            <a:r>
              <a:rPr lang="en-US" altLang="zh-HK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)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進行同步。</a:t>
            </a:r>
            <a:endParaRPr lang="zh-HK" altLang="zh-HK" sz="24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 第三步：</a:t>
            </a:r>
            <a:r>
              <a:rPr lang="zh-HK" altLang="en-US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判斷時間和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執行</a:t>
            </a:r>
            <a:r>
              <a:rPr lang="zh-HK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程式</a:t>
            </a:r>
            <a:endParaRPr lang="zh-HK" altLang="zh-HK" sz="24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這是系統自動化的部分。系統會實時比對時間與預設任務，當時間符合排程時，會自動觸發語音引擎。這解決了過去需要職員</a:t>
            </a:r>
            <a:r>
              <a:rPr lang="zh-HK" altLang="zh-HK" sz="2400" dirty="0">
                <a:latin typeface="Helvetica" pitchFamily="2" charset="0"/>
              </a:rPr>
              <a:t>在接近</a:t>
            </a:r>
            <a:r>
              <a:rPr lang="zh-HK" altLang="en-US" sz="2400" dirty="0">
                <a:latin typeface="Helvetica" pitchFamily="2" charset="0"/>
              </a:rPr>
              <a:t>關門</a:t>
            </a:r>
            <a:r>
              <a:rPr lang="zh-HK" altLang="zh-HK" sz="2400" dirty="0">
                <a:latin typeface="Helvetica" pitchFamily="2" charset="0"/>
              </a:rPr>
              <a:t>時段預留時間處理播放</a:t>
            </a:r>
            <a:r>
              <a:rPr lang="en-US" altLang="zh-HK" sz="2400" dirty="0">
                <a:latin typeface="Helvetica" pitchFamily="2" charset="0"/>
              </a:rPr>
              <a:t>/</a:t>
            </a:r>
            <a:r>
              <a:rPr lang="zh-HK" altLang="en-US" sz="2400" dirty="0">
                <a:latin typeface="Helvetica" pitchFamily="2" charset="0"/>
              </a:rPr>
              <a:t>說話</a:t>
            </a:r>
            <a:r>
              <a:rPr lang="zh-CN" altLang="en-US" sz="2400" dirty="0">
                <a:latin typeface="Helvetica" pitchFamily="2" charset="0"/>
              </a:rPr>
              <a:t>的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壓力，</a:t>
            </a:r>
            <a:r>
              <a:rPr lang="zh-CN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成功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實現了關門前 5 至 15 分鐘的廣播。</a:t>
            </a:r>
            <a:endParaRPr lang="zh-HK" altLang="zh-HK" sz="24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 </a:t>
            </a:r>
            <a:endParaRPr lang="en-US" altLang="zh-HK" sz="2400" dirty="0">
              <a:solidFill>
                <a:schemeClr val="bg1">
                  <a:lumMod val="10000"/>
                </a:schemeClr>
              </a:solidFill>
              <a:latin typeface=".SFUI-Regular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第四步：反饋追蹤</a:t>
            </a:r>
            <a:r>
              <a:rPr lang="zh-CN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和維護</a:t>
            </a:r>
            <a:endParaRPr lang="zh-HK" altLang="zh-HK" sz="24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在播放結束後，系統會自動將運作結果寫入</a:t>
            </a:r>
            <a:r>
              <a:rPr lang="en-US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&lt;</a:t>
            </a:r>
            <a:r>
              <a:rPr lang="zh-CN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半</a:t>
            </a:r>
            <a:r>
              <a:rPr lang="en-US" altLang="zh-CN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&gt;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自動廣播系統的 Log 中。這不僅是為了留痕，</a:t>
            </a:r>
            <a:r>
              <a:rPr lang="zh-CN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是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讓我</a:t>
            </a:r>
            <a:r>
              <a:rPr lang="zh-CN" altLang="en-US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可以瞭解</a:t>
            </a:r>
            <a:r>
              <a:rPr lang="en-US" altLang="zh-CN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/</a:t>
            </a:r>
            <a:r>
              <a:rPr lang="zh-HK" altLang="zh-HK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檢查</a:t>
            </a:r>
            <a:r>
              <a:rPr lang="en-US" altLang="zh-HK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&lt;</a:t>
            </a:r>
            <a:r>
              <a:rPr lang="zh-CN" altLang="en-US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半</a:t>
            </a:r>
            <a:r>
              <a:rPr lang="en-US" altLang="zh-CN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&gt;</a:t>
            </a:r>
            <a:r>
              <a:rPr lang="zh-HK" altLang="zh-HK" sz="2400" dirty="0">
                <a:solidFill>
                  <a:schemeClr val="bg1">
                    <a:lumMod val="10000"/>
                  </a:schemeClr>
                </a:solidFill>
                <a:latin typeface=".SFUI-Regular"/>
              </a:rPr>
              <a:t>自動廣播系統</a:t>
            </a:r>
            <a:r>
              <a:rPr lang="zh-HK" altLang="zh-HK" sz="2400" b="0" i="0" dirty="0">
                <a:solidFill>
                  <a:schemeClr val="bg1">
                    <a:lumMod val="10000"/>
                  </a:schemeClr>
                </a:solidFill>
                <a:effectLst/>
                <a:latin typeface=".SFUI-Regular"/>
              </a:rPr>
              <a:t>運行狀況，實現了具備故障排除機制的管理邏輯。</a:t>
            </a:r>
            <a:endParaRPr lang="zh-HK" altLang="zh-HK" sz="26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  <a:p>
            <a:pPr>
              <a:spcBef>
                <a:spcPts val="698"/>
              </a:spcBef>
              <a:buNone/>
            </a:pPr>
            <a:endParaRPr lang="zh-HK" altLang="zh-HK" sz="2600" dirty="0">
              <a:solidFill>
                <a:schemeClr val="bg1">
                  <a:lumMod val="10000"/>
                </a:schemeClr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65344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EE5C2C-EC40-6203-8DC1-269B4B94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046139" cy="1325563"/>
          </a:xfrm>
        </p:spPr>
        <p:txBody>
          <a:bodyPr/>
          <a:lstStyle/>
          <a:p>
            <a:r>
              <a:rPr lang="zh-HK" altLang="zh-HK" b="0" i="0" dirty="0">
                <a:effectLst/>
                <a:latin typeface=".SFUI-Regular"/>
              </a:rPr>
              <a:t>心路歷程 (I</a:t>
            </a:r>
            <a:r>
              <a:rPr lang="en-GB" altLang="zh-HK" dirty="0">
                <a:latin typeface=".SFUI-Regular"/>
              </a:rPr>
              <a:t>)</a:t>
            </a:r>
            <a:r>
              <a:rPr lang="zh-CN" altLang="en-US" dirty="0"/>
              <a:t>從想法</a:t>
            </a:r>
            <a:r>
              <a:rPr lang="zh-HK" altLang="en-US" dirty="0"/>
              <a:t>到實踐，技術思維的轉變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F62E3F-EB0A-CFB4-3DA1-D0D34FAD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0"/>
            <a:ext cx="12192000" cy="54864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HK" altLang="zh-HK" b="0" i="0" dirty="0">
                <a:effectLst/>
                <a:latin typeface=".SFUI-Regular"/>
              </a:rPr>
              <a:t>當我觀察到</a:t>
            </a:r>
            <a:r>
              <a:rPr lang="zh-HK" altLang="en-US" b="0" i="0" dirty="0">
                <a:effectLst/>
                <a:latin typeface=".SFUI-Regular"/>
              </a:rPr>
              <a:t>職員需要在中心關門</a:t>
            </a:r>
            <a:r>
              <a:rPr lang="zh-HK" altLang="zh-HK" b="0" i="0" dirty="0">
                <a:effectLst/>
                <a:latin typeface=".SFUI-Regular"/>
              </a:rPr>
              <a:t>前 5 至 15 分鐘的繁瑣操作所困擾時，我希望能用技術為他們減輕負擔。我雖然對提議</a:t>
            </a:r>
            <a:r>
              <a:rPr lang="zh-HK" altLang="en-US" b="0" i="0" dirty="0">
                <a:effectLst/>
                <a:latin typeface=".SFUI-Regular"/>
              </a:rPr>
              <a:t>製作</a:t>
            </a:r>
            <a:r>
              <a:rPr lang="zh-HK" altLang="zh-HK" b="0" i="0" dirty="0">
                <a:effectLst/>
                <a:latin typeface=".SFUI-Regular"/>
              </a:rPr>
              <a:t>項目感到緊張與害怕，但主任的信任與借出電腦的支持，讓我更加堅定要將項目落實的決心。當系統成功運作，</a:t>
            </a:r>
            <a:r>
              <a:rPr lang="zh-HK" altLang="en-US" b="0" i="0" dirty="0">
                <a:effectLst/>
                <a:latin typeface=".SFUI-Regular"/>
              </a:rPr>
              <a:t>當我聽到主任的肯定和職員</a:t>
            </a:r>
            <a:r>
              <a:rPr lang="zh-HK" altLang="zh-HK" b="0" i="0" dirty="0">
                <a:effectLst/>
                <a:latin typeface=".SFUI-Regular"/>
              </a:rPr>
              <a:t>說負擔減輕的那一刻，我深刻意識到：原來</a:t>
            </a:r>
            <a:r>
              <a:rPr lang="zh-HK" altLang="en-US" b="0" i="0" dirty="0">
                <a:effectLst/>
                <a:latin typeface=".SFUI-Regular"/>
              </a:rPr>
              <a:t>我做程式員是有用處的</a:t>
            </a:r>
            <a:r>
              <a:rPr lang="zh-HK" altLang="zh-HK" b="0" i="0" dirty="0">
                <a:effectLst/>
                <a:latin typeface=".SFUI-Regular"/>
              </a:rPr>
              <a:t>，</a:t>
            </a:r>
            <a:r>
              <a:rPr lang="zh-HK" altLang="en-US" b="0" i="0" dirty="0">
                <a:effectLst/>
                <a:latin typeface=".SFUI-Regular"/>
              </a:rPr>
              <a:t>原來</a:t>
            </a:r>
            <a:r>
              <a:rPr lang="zh-HK" altLang="zh-HK" b="0" i="0" dirty="0">
                <a:effectLst/>
                <a:latin typeface=".SFUI-Regular"/>
              </a:rPr>
              <a:t>我有能力去幫助身邊的人。</a:t>
            </a:r>
            <a:endParaRPr lang="zh-HK" altLang="en-US" b="0" i="0" dirty="0">
              <a:effectLst/>
              <a:latin typeface=".SFUI-Regular"/>
            </a:endParaRPr>
          </a:p>
          <a:p>
            <a:pPr marL="0" indent="0">
              <a:buNone/>
            </a:pPr>
            <a:r>
              <a:rPr lang="zh-HK" altLang="zh-HK" b="0" i="0" dirty="0">
                <a:effectLst/>
                <a:latin typeface=".SFUI-Regular"/>
              </a:rPr>
              <a:t>在開發過程中，家人的陪伴與鼓勵是我最堅實的後盾，讓我可以全心投入每一次的除錯與優化。每當遇到技術瓶頸時，女朋友</a:t>
            </a:r>
            <a:r>
              <a:rPr lang="zh-HK" altLang="en-US" b="0" i="0" dirty="0">
                <a:effectLst/>
                <a:latin typeface=".SFUI-Regular"/>
              </a:rPr>
              <a:t>的陪伴和她</a:t>
            </a:r>
            <a:r>
              <a:rPr lang="zh-HK" altLang="zh-HK" b="0" i="0" dirty="0">
                <a:effectLst/>
                <a:latin typeface=".SFUI-Regular"/>
              </a:rPr>
              <a:t>那</a:t>
            </a:r>
            <a:r>
              <a:rPr lang="zh-HK" altLang="en-US" dirty="0">
                <a:latin typeface=".SFUI-Regular"/>
              </a:rPr>
              <a:t>一</a:t>
            </a:r>
            <a:r>
              <a:rPr lang="zh-HK" altLang="zh-HK" b="0" i="0" dirty="0">
                <a:effectLst/>
                <a:latin typeface=".SFUI-Regular"/>
              </a:rPr>
              <a:t>句『試下吧，可能得呢』，總能帶給我跨越困難的勇氣與信心。這些支持讓我在面對環境限制時，依然能以正面態度在既有框架內，尋求最佳的半自動化解決方案。</a:t>
            </a:r>
            <a:endParaRPr lang="zh-HK" altLang="zh-HK" dirty="0">
              <a:effectLst/>
              <a:latin typeface=".AppleSystemUIFont"/>
            </a:endParaRPr>
          </a:p>
          <a:p>
            <a:pPr marL="0" indent="0">
              <a:buNone/>
            </a:pPr>
            <a:endParaRPr lang="zh-HK" altLang="zh-HK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16153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F08273-925A-EEFB-DBB6-C68A30709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HK" altLang="zh-HK" b="0" i="0" dirty="0">
                <a:effectLst/>
                <a:latin typeface=".SFUI-Regular"/>
              </a:rPr>
              <a:t>心路歷程 (II)——在限制中尋求平衡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F5E7CD-BA93-D48A-769C-46CC10C8B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HK" altLang="zh-HK" b="0" i="0" dirty="0">
                <a:effectLst/>
                <a:latin typeface=".SFUI-Regular"/>
              </a:rPr>
              <a:t>在開發過程中，我意識到現實環境存在不少限制，例如當時</a:t>
            </a:r>
            <a:r>
              <a:rPr lang="zh-HK" altLang="en-US" b="0" i="0" dirty="0">
                <a:effectLst/>
                <a:latin typeface=".SFUI-Regular"/>
              </a:rPr>
              <a:t>中</a:t>
            </a:r>
            <a:r>
              <a:rPr lang="zh-HK" altLang="zh-HK" b="0" i="0" dirty="0">
                <a:effectLst/>
                <a:latin typeface=".SFUI-Regular"/>
              </a:rPr>
              <a:t>無法</a:t>
            </a:r>
            <a:r>
              <a:rPr lang="zh-HK" altLang="en-US" dirty="0">
                <a:latin typeface=".SFUI-Regular"/>
              </a:rPr>
              <a:t>使用</a:t>
            </a:r>
            <a:r>
              <a:rPr lang="zh-HK" altLang="zh-HK" b="0" i="0" dirty="0">
                <a:effectLst/>
                <a:latin typeface=".SFUI-Regular"/>
              </a:rPr>
              <a:t>BIOS 權限，這意味著我無法按照理想中的全自動技術架構來設計系統。面對這些限制，我沒有選擇放棄。相反地，在家人與女友的鼓勵下，我秉持著『嘗試精神』，定義出了一套『人手開機 + 系統自動接管』的</a:t>
            </a:r>
            <a:r>
              <a:rPr lang="zh-HK" altLang="en-US" b="0" i="0" dirty="0">
                <a:effectLst/>
                <a:latin typeface=".SFUI-Regular"/>
              </a:rPr>
              <a:t>半自動啟動的</a:t>
            </a:r>
            <a:r>
              <a:rPr lang="zh-HK" altLang="zh-HK" b="0" i="0" dirty="0">
                <a:effectLst/>
                <a:latin typeface=".SFUI-Regular"/>
              </a:rPr>
              <a:t>模式。這段『在限制中找解法』的過程，是我作為</a:t>
            </a:r>
            <a:r>
              <a:rPr lang="zh-HK" altLang="en-US" dirty="0">
                <a:latin typeface=".SFUI-Regular"/>
              </a:rPr>
              <a:t>資訊科技義務人員</a:t>
            </a:r>
            <a:r>
              <a:rPr lang="zh-HK" altLang="zh-HK" b="0" i="0" dirty="0">
                <a:effectLst/>
                <a:latin typeface=".SFUI-Regular"/>
              </a:rPr>
              <a:t>最寶貴的</a:t>
            </a:r>
            <a:r>
              <a:rPr lang="zh-HK" altLang="en-US" b="0" i="0" dirty="0">
                <a:effectLst/>
                <a:latin typeface=".SFUI-Regular"/>
              </a:rPr>
              <a:t>實踐經驗</a:t>
            </a:r>
            <a:r>
              <a:rPr lang="zh-HK" altLang="zh-HK" b="0" i="0" dirty="0">
                <a:effectLst/>
                <a:latin typeface=".SFUI-Regular"/>
              </a:rPr>
              <a:t>。它讓我學會了如何在符合現有保安規範的前提下，追求技術上的突破，並在服務與穩定性之間找到平衡點。</a:t>
            </a:r>
            <a:endParaRPr lang="zh-HK" altLang="zh-HK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84913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CCA5D5-075A-B965-BE16-27C83F47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HK" altLang="en-US" dirty="0"/>
              <a:t>總結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D084B-8290-36FD-8A27-BCD7A1ED7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0910"/>
            <a:ext cx="12192000" cy="5897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HK" altLang="en-US" dirty="0">
                <a:latin typeface=".SFUI-Regular"/>
              </a:rPr>
              <a:t>在</a:t>
            </a:r>
            <a:r>
              <a:rPr lang="zh-HK" altLang="zh-HK" b="0" i="0" dirty="0">
                <a:effectLst/>
                <a:latin typeface=".SFUI-Regular"/>
              </a:rPr>
              <a:t>這次自動廣播系統的開發，對我而言不僅是技術的突破，更是一場關於成長的旅程。在開發過程中，我學會了如何在</a:t>
            </a:r>
            <a:r>
              <a:rPr lang="zh-HK" altLang="en-US" b="0" i="0" dirty="0">
                <a:effectLst/>
                <a:latin typeface=".SFUI-Regular"/>
              </a:rPr>
              <a:t>環境的</a:t>
            </a:r>
            <a:r>
              <a:rPr lang="zh-HK" altLang="zh-HK" b="0" i="0" dirty="0">
                <a:effectLst/>
                <a:latin typeface=".SFUI-Regular"/>
              </a:rPr>
              <a:t>限制下，尋求技術與服務的最佳平衡。</a:t>
            </a:r>
            <a:endParaRPr lang="zh-HK" altLang="zh-HK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zh-HK" altLang="zh-HK" b="0" i="0" dirty="0">
                <a:effectLst/>
                <a:latin typeface=".SFUI-Regular"/>
              </a:rPr>
              <a:t>而這一切的成就，並非我一人之力。首先，我要感謝周主任的信任，</a:t>
            </a:r>
            <a:r>
              <a:rPr lang="zh-HK" altLang="en-US" b="0" i="0" dirty="0">
                <a:effectLst/>
                <a:latin typeface=".SFUI-Regular"/>
              </a:rPr>
              <a:t>周主任</a:t>
            </a:r>
            <a:r>
              <a:rPr lang="zh-HK" altLang="zh-HK" b="0" i="0" dirty="0">
                <a:effectLst/>
                <a:latin typeface=".SFUI-Regular"/>
              </a:rPr>
              <a:t>不僅在軟體開發上給予我發揮空間，更在測試所需的設備資源上提供了關鍵的支援。同時，我也要感謝全體同事的配合，以及家人默默的陪伴與支持。特別是我的女朋友，謝謝妳始終相信我，那句『試下吧，可能得呢』的堅定支持，總是在我感到迷惘時，給我繼續前行的力量。</a:t>
            </a:r>
            <a:endParaRPr lang="zh-HK" altLang="zh-HK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zh-HK" altLang="zh-HK" b="0" i="0" dirty="0">
                <a:effectLst/>
                <a:latin typeface=".SFUI-Regular"/>
              </a:rPr>
              <a:t>正是這些愛、信任與實質的資源支持，成就了今天這名資訊科技</a:t>
            </a:r>
            <a:r>
              <a:rPr lang="zh-HK" altLang="en-US" dirty="0">
                <a:latin typeface=".SFUI-Regular"/>
              </a:rPr>
              <a:t>義務</a:t>
            </a:r>
            <a:r>
              <a:rPr lang="zh-HK" altLang="zh-HK" b="0" i="0" dirty="0">
                <a:effectLst/>
                <a:latin typeface=".SFUI-Regular"/>
              </a:rPr>
              <a:t>人員的價值，讓我知道，我所做的每一個決定、每一行程式，不僅是為了完成工作，更是為了幫助到身邊的人。這讓我知道，我的努力是真的能幫到大家、是有用處的。</a:t>
            </a:r>
            <a:endParaRPr lang="zh-HK" altLang="en-US" b="0" i="0" dirty="0">
              <a:effectLst/>
              <a:latin typeface=".SFUI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53905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DA97BE7-B4DA-59FC-E93F-44922B36B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232" y="2432304"/>
            <a:ext cx="7815072" cy="14549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altLang="en-US" sz="8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問題和答案</a:t>
            </a:r>
            <a:r>
              <a:rPr lang="en-US" altLang="en-US" sz="8000" b="1" dirty="0"/>
              <a:t>(Q&amp;A)</a:t>
            </a:r>
            <a:endParaRPr lang="en-US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0652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1540</Words>
  <Application>Microsoft Office PowerPoint</Application>
  <PresentationFormat>宽屏</PresentationFormat>
  <Paragraphs>35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.AppleSystemUIFont</vt:lpstr>
      <vt:lpstr>.SFUI-Regular</vt:lpstr>
      <vt:lpstr>DengXian</vt:lpstr>
      <vt:lpstr>Aptos</vt:lpstr>
      <vt:lpstr>Aptos Display</vt:lpstr>
      <vt:lpstr>Arial</vt:lpstr>
      <vt:lpstr>Helvetica</vt:lpstr>
      <vt:lpstr>Office 佈景主題</vt:lpstr>
      <vt:lpstr>賽馬會慈雲山青少年綜合服務中心（龍蟠苑辦事處）「半」自動化語音廣播系統發布</vt:lpstr>
      <vt:lpstr>引言</vt:lpstr>
      <vt:lpstr>以前的做法</vt:lpstr>
      <vt:lpstr>現在的做法</vt:lpstr>
      <vt:lpstr>系統運行示範：「半自動」操作邏輯</vt:lpstr>
      <vt:lpstr>心路歷程 (I)從想法到實踐，技術思維的轉變</vt:lpstr>
      <vt:lpstr>心路歷程 (II)——在限制中尋求平衡</vt:lpstr>
      <vt:lpstr>總結</vt:lpstr>
      <vt:lpstr>問題和答案(Q&amp;A)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賽馬會慈雲山青少年綜合服務中心（龍蟠苑辦事處）自動化語音廣播系統發布</dc:title>
  <dc:creator>connie Takoi</dc:creator>
  <cp:lastModifiedBy>connie Takoi</cp:lastModifiedBy>
  <cp:revision>5</cp:revision>
  <dcterms:created xsi:type="dcterms:W3CDTF">2026-05-29T13:04:13Z</dcterms:created>
  <dcterms:modified xsi:type="dcterms:W3CDTF">2026-06-05T04:54:54Z</dcterms:modified>
</cp:coreProperties>
</file>